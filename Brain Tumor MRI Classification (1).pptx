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DM Sans" panose="020F0502020204030204" pitchFamily="2" charset="0"/>
      <p:regular r:id="rId19"/>
      <p:bold r:id="rId20"/>
      <p:italic r:id="rId21"/>
      <p:boldItalic r:id="rId22"/>
    </p:embeddedFont>
    <p:embeddedFont>
      <p:font typeface="Merriweather" panose="020F0502020204030204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1A537B-157A-466F-8747-F2A5D4C0CEFC}">
  <a:tblStyle styleId="{A11A537B-157A-466F-8747-F2A5D4C0CE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14800"/>
            <a:ext cx="110490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857375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BRAIN TUMOR MRI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3476625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Custom Image Cleaning and Deep Learning Techniques for Enhanced Multiclass Diagnosis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33862" y="4410075"/>
            <a:ext cx="20288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Mohammed Ammar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19650" y="478155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CAA0"/>
                </a:solidFill>
                <a:latin typeface="Arial"/>
                <a:ea typeface="Arial"/>
                <a:cs typeface="Arial"/>
                <a:sym typeface="Arial"/>
              </a:rPr>
              <a:t>ID: 246507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834187" y="4410075"/>
            <a:ext cx="1123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Erfan Nada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967537" y="478155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CAA0"/>
                </a:solidFill>
                <a:latin typeface="Arial"/>
                <a:ea typeface="Arial"/>
                <a:cs typeface="Arial"/>
                <a:sym typeface="Arial"/>
              </a:rPr>
              <a:t>ID: 240097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3045618" y="2924175"/>
            <a:ext cx="610076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524500" y="387667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47750" y="2886075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Clinical Variability: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Manual interpretation is labor-intensive and subject to inter-observer variability in tumor boundary detection.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47750" y="3333750"/>
            <a:ext cx="10572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Image Artifacts: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Scans contain large black borders and text annotations ('R', 'L', scale markers) that distract deep learning backbones.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47750" y="4038600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Low Local Contrast: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Subtle intensity differences between Meningioma and healthy tissue hinder discriminative feature learning.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47750" y="4486275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Morphological Overlap: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Visual similarity between Glioma and Meningioma requires advanced sharpening preprocessing.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13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898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338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815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Barriers in Automated MRI Analysis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3980735" y="2924175"/>
            <a:ext cx="423052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Related Work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5524500" y="387667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5075"/>
            <a:ext cx="349254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05075"/>
            <a:ext cx="3492549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05075"/>
            <a:ext cx="3492549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66775" y="343852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Cheng et al.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66775" y="3848100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Achieved 91.28% accuracy using tumor region augmentation. Relied on private hospital data, limiting public reproducibility.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4645074" y="343852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Afshar et al.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4645074" y="3848100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Explored Capsule Networks and VGG16 (90% accuracy). Confirmed VGG16 as a strong backbone for neural textures.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423374" y="3438525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Badža et al.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423374" y="3848100"/>
            <a:ext cx="29019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Utilized the Kaggle dataset with EfficientNet (94% accuracy). Highlighted a gap in custom image cleaning effects.</a:t>
            </a:r>
            <a:endParaRPr/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479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8479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479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Literature Benchmarks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4895850" y="2924175"/>
            <a:ext cx="24003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524500" y="387667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19"/>
          <p:cNvGraphicFramePr/>
          <p:nvPr/>
        </p:nvGraphicFramePr>
        <p:xfrm>
          <a:off x="2005012" y="24669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{A11A537B-157A-466F-8747-F2A5D4C0CEFC}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Tumor 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Training Images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Testing Images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Anatomical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Glioma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~1,321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~300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Malignant glial brain cells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Meningioma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~1,339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~306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Tumor from brain membranes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Tumor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~1,595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~405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Healthy brain 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Pituitary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~1,457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~300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Central pituitary gland masses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" name="Google Shape;153;p19"/>
          <p:cNvSpPr/>
          <p:nvPr/>
        </p:nvSpPr>
        <p:spPr>
          <a:xfrm>
            <a:off x="2005012" y="3052762"/>
            <a:ext cx="156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567112" y="3052762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538787" y="3052762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386637" y="3052762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005012" y="3624262"/>
            <a:ext cx="156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3567112" y="3624262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538787" y="3624262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7386637" y="3624262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2005012" y="4195762"/>
            <a:ext cx="156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567112" y="4195762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538787" y="4195762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7386637" y="4195762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2005012" y="4767262"/>
            <a:ext cx="156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567112" y="4767262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538787" y="4767262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7386637" y="4767262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005012" y="5338762"/>
            <a:ext cx="1562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567112" y="5338762"/>
            <a:ext cx="1971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538787" y="5338762"/>
            <a:ext cx="18478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7386637" y="5338762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Composition (7,023 Scans)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3975735" y="2924175"/>
            <a:ext cx="424053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524500" y="387667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02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0978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1047750" y="2100262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Noise Suppression: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Manual 3x3 Gaussian Convolution.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47750" y="2547937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Thresholding: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Binarization at intensity 15 to isolate tissue.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47750" y="299561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Morphology: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Erosion and Dilation to fill holes and refine edges.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47750" y="370046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BFS Search: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Connectivity analysis to find the largest brain mass.</a:t>
            </a:r>
            <a:endParaRPr/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0955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5431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299085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69570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Cleaning: CropBrainContour Pipeline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33662"/>
            <a:ext cx="3492549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33662"/>
            <a:ext cx="3492549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33662"/>
            <a:ext cx="3492549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866775" y="3567112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Enhancement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66775" y="39766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Benchmarked Sobel, LoG Sharpening, Gamma Correction, and the hybrid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LoG+CLAHE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filter.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645074" y="3567112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4645074" y="39766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Compared VGG16, ResNet50, DenseNet121, and EfficientNetV2 transfer backbones.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423374" y="3567112"/>
            <a:ext cx="304709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Custom CNN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8423374" y="397668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Designed a 5-block CNN from scratch with progressive filter doubling (32 to 512).</a:t>
            </a:r>
            <a:endParaRPr/>
          </a:p>
        </p:txBody>
      </p:sp>
      <p:pic>
        <p:nvPicPr>
          <p:cNvPr id="213" name="Google Shape;21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765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9765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976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Enhancement &amp; Architectures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2450544" y="2924175"/>
            <a:ext cx="729091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 and Discussion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524500" y="387667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571500" y="4748212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Scientific finding: Combining boundary sharpening (LoG) with adaptive local contrast (CLAHE) minimizes domain noise and maximizes discriminative power.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Preprocessing Experiment (VGG16)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11049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571500" y="4748212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Analysis: The Custom CNN trained from scratch outperformed deeper frozen backbones, indicating that tailored spatial hierarchies are superior to frozen natural image weights.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Backbone Accuracy (Cleaned)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 txBox="1"/>
          <p:nvPr/>
        </p:nvSpPr>
        <p:spPr>
          <a:xfrm>
            <a:off x="4340780" y="2924175"/>
            <a:ext cx="35104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5524500" y="3876675"/>
            <a:ext cx="11430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 txBox="1"/>
          <p:nvPr/>
        </p:nvSpPr>
        <p:spPr>
          <a:xfrm>
            <a:off x="1047750" y="2628900"/>
            <a:ext cx="10572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Cleaning is Vital: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CropBrainContour effectively eliminates spurious text and background borders, preventing model overfitting to noise.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1047750" y="3333750"/>
            <a:ext cx="10572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Best Config: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VGG16 + LoG/CLAHE achieved </a:t>
            </a: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95.19% accuracy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setting a high benchmark for automated diagnostic support.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1047750" y="3781425"/>
            <a:ext cx="10572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Custom CNN Success: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Reached </a:t>
            </a: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92.88% accuracy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from scratch, proving that well-regularized domain architecture can rival transfer learning.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1047750" y="4486275"/>
            <a:ext cx="10572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Future Path: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Partial unfreezing of ResNet blocks and ensemble methods between LoG and Gamma pipelines to further boost robustness.</a:t>
            </a:r>
            <a:endParaRPr/>
          </a:p>
        </p:txBody>
      </p:sp>
      <p:pic>
        <p:nvPicPr>
          <p:cNvPr id="259" name="Google Shape;25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241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898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766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8151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 of Project Outcomes</a:t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571500" y="1114425"/>
            <a:ext cx="11049000" cy="381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0900" y="3629025"/>
            <a:ext cx="54102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3390900" y="2028825"/>
            <a:ext cx="568071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3390900" y="2990850"/>
            <a:ext cx="5410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Thank you for your time.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3676650" y="3914775"/>
            <a:ext cx="4838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Department of Computer Science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3676650" y="4229100"/>
            <a:ext cx="4838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October University for Modern Sciences and Arts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DM Sans</vt:lpstr>
      <vt:lpstr>Arial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Erfan Nada</cp:lastModifiedBy>
  <cp:revision>1</cp:revision>
  <dcterms:modified xsi:type="dcterms:W3CDTF">2026-05-16T16:59:55Z</dcterms:modified>
</cp:coreProperties>
</file>